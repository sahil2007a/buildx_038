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2" r:id="rId4"/>
    <p:sldId id="259" r:id="rId5"/>
    <p:sldId id="260" r:id="rId6"/>
    <p:sldId id="263" r:id="rId7"/>
    <p:sldId id="264" r:id="rId8"/>
    <p:sldId id="265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71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69848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Aptos"/>
              </a:defRPr>
            </a:pPr>
            <a:r>
              <a:rPr lang="en-US" dirty="0" smtClean="0"/>
              <a:t>RASTARAKSHAK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17830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0">
                <a:solidFill>
                  <a:srgbClr val="B8DCEB"/>
                </a:solidFill>
                <a:latin typeface="Aptos"/>
              </a:defRPr>
            </a:pPr>
            <a:r>
              <a:t>AI-Powered Urban Infrastructure Intelligence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6607" y="282594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Aptos"/>
              </a:defRPr>
            </a:pP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-251119" y="3155250"/>
            <a:ext cx="10692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8DCEB"/>
                </a:solidFill>
                <a:latin typeface="Aptos"/>
              </a:defRPr>
            </a:pPr>
            <a:r>
              <a:rPr sz="1600" dirty="0"/>
              <a:t>Team: </a:t>
            </a:r>
            <a:r>
              <a:rPr lang="en-US" sz="1600" dirty="0" smtClean="0"/>
              <a:t>Team </a:t>
            </a:r>
            <a:r>
              <a:rPr lang="en-US" sz="1600" dirty="0" err="1" smtClean="0"/>
              <a:t>Zenvia</a:t>
            </a:r>
            <a:r>
              <a:rPr sz="1600" dirty="0" smtClean="0"/>
              <a:t> </a:t>
            </a:r>
            <a:r>
              <a:rPr sz="1600" dirty="0"/>
              <a:t>|  </a:t>
            </a:r>
            <a:endParaRPr lang="en-US" sz="1600" dirty="0" smtClean="0"/>
          </a:p>
          <a:p>
            <a:pPr algn="ctr">
              <a:defRPr sz="1400" b="0">
                <a:solidFill>
                  <a:srgbClr val="B8DCEB"/>
                </a:solidFill>
                <a:latin typeface="Aptos"/>
              </a:defRPr>
            </a:pPr>
            <a:r>
              <a:rPr lang="en-US" sz="1600" dirty="0" smtClean="0"/>
              <a:t>Team Members : </a:t>
            </a:r>
            <a:r>
              <a:rPr lang="en-US" sz="1600" dirty="0" err="1" smtClean="0"/>
              <a:t>Sahil</a:t>
            </a:r>
            <a:r>
              <a:rPr lang="en-US" sz="1600" dirty="0" smtClean="0"/>
              <a:t> </a:t>
            </a:r>
            <a:r>
              <a:rPr lang="en-US" sz="1600" dirty="0" err="1" smtClean="0"/>
              <a:t>Ramteke</a:t>
            </a:r>
            <a:endParaRPr lang="en-US" sz="1600" dirty="0"/>
          </a:p>
          <a:p>
            <a:pPr algn="ctr">
              <a:defRPr sz="1400" b="0">
                <a:solidFill>
                  <a:srgbClr val="B8DCEB"/>
                </a:solidFill>
                <a:latin typeface="Aptos"/>
              </a:defRPr>
            </a:pPr>
            <a:r>
              <a:rPr lang="en-US" sz="1600" dirty="0" smtClean="0"/>
              <a:t>                                                                  </a:t>
            </a:r>
            <a:r>
              <a:rPr lang="en-US" sz="1600" dirty="0" err="1" smtClean="0"/>
              <a:t>Achal</a:t>
            </a:r>
            <a:r>
              <a:rPr lang="en-US" sz="1600" dirty="0" smtClean="0"/>
              <a:t> </a:t>
            </a:r>
            <a:r>
              <a:rPr lang="en-US" sz="1600" dirty="0" err="1" smtClean="0"/>
              <a:t>Ghodmare</a:t>
            </a:r>
            <a:endParaRPr lang="en-US" sz="1600" dirty="0" smtClean="0"/>
          </a:p>
          <a:p>
            <a:pPr algn="ctr">
              <a:defRPr sz="1400" b="0">
                <a:solidFill>
                  <a:srgbClr val="B8DCEB"/>
                </a:solidFill>
                <a:latin typeface="Aptos"/>
              </a:defRPr>
            </a:pPr>
            <a:r>
              <a:rPr lang="en-US" sz="1600" dirty="0"/>
              <a:t> </a:t>
            </a:r>
            <a:r>
              <a:rPr lang="en-US" sz="1600" dirty="0" smtClean="0"/>
              <a:t>                                                                 </a:t>
            </a:r>
            <a:r>
              <a:rPr lang="en-US" sz="1600" dirty="0" err="1" smtClean="0"/>
              <a:t>Prachi</a:t>
            </a:r>
            <a:r>
              <a:rPr lang="en-US" sz="1600" dirty="0" smtClean="0"/>
              <a:t> </a:t>
            </a:r>
            <a:r>
              <a:rPr lang="en-US" sz="1600" dirty="0" err="1" smtClean="0"/>
              <a:t>Charlewar</a:t>
            </a:r>
            <a:endParaRPr lang="en-US" sz="1600" dirty="0" smtClean="0"/>
          </a:p>
          <a:p>
            <a:pPr algn="ctr">
              <a:defRPr sz="1400" b="0">
                <a:solidFill>
                  <a:srgbClr val="B8DCEB"/>
                </a:solidFill>
                <a:latin typeface="Aptos"/>
              </a:defRPr>
            </a:pPr>
            <a:r>
              <a:rPr lang="en-US" sz="1600" dirty="0" smtClean="0"/>
              <a:t>                                                              </a:t>
            </a:r>
            <a:r>
              <a:rPr lang="en-US" sz="1600" dirty="0" err="1" smtClean="0"/>
              <a:t>Kaveri</a:t>
            </a:r>
            <a:r>
              <a:rPr lang="en-US" sz="1600" dirty="0" smtClean="0"/>
              <a:t> </a:t>
            </a:r>
            <a:r>
              <a:rPr lang="en-US" sz="1600" dirty="0" err="1" smtClean="0"/>
              <a:t>Sahare</a:t>
            </a:r>
            <a:endParaRPr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33E"/>
                </a:solidFill>
                <a:latin typeface="Aptos"/>
              </a:defRPr>
            </a:pPr>
            <a:r>
              <a:t>1. 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41832"/>
            <a:ext cx="1051560" cy="73152"/>
          </a:xfrm>
          <a:prstGeom prst="rect">
            <a:avLst/>
          </a:prstGeom>
          <a:solidFill>
            <a:srgbClr val="EB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0789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F6973"/>
                </a:solidFill>
                <a:latin typeface="Aptos"/>
              </a:defRPr>
            </a:pPr>
            <a:r>
              <a:t>Nagpur’s urban infrastructure maintenance is fragmented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667512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81912"/>
            <a:ext cx="6217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32D37"/>
                </a:solidFill>
                <a:latin typeface="Aptos"/>
              </a:defRPr>
            </a:pPr>
            <a:r>
              <a:t>• After heavy rain, potholes and road damage appear across major roads and inner lanes.</a:t>
            </a:r>
          </a:p>
          <a:p>
            <a:pPr>
              <a:spcAft>
                <a:spcPts val="900"/>
              </a:spcAft>
              <a:defRPr sz="1600">
                <a:solidFill>
                  <a:srgbClr val="232D37"/>
                </a:solidFill>
                <a:latin typeface="Aptos"/>
              </a:defRPr>
            </a:pPr>
            <a:r>
              <a:t>• One pothole may be reported through an app, helpline, WhatsApp, social media, and a letter.</a:t>
            </a:r>
          </a:p>
          <a:p>
            <a:pPr>
              <a:spcAft>
                <a:spcPts val="900"/>
              </a:spcAft>
              <a:defRPr sz="1600">
                <a:solidFill>
                  <a:srgbClr val="232D37"/>
                </a:solidFill>
                <a:latin typeface="Aptos"/>
              </a:defRPr>
            </a:pPr>
            <a:r>
              <a:t>• A dangerous defect near a school may receive only one complaint and remain unresolved.</a:t>
            </a:r>
          </a:p>
          <a:p>
            <a:pPr>
              <a:spcAft>
                <a:spcPts val="900"/>
              </a:spcAft>
              <a:defRPr sz="1600">
                <a:solidFill>
                  <a:srgbClr val="232D37"/>
                </a:solidFill>
                <a:latin typeface="Aptos"/>
              </a:defRPr>
            </a:pPr>
            <a:r>
              <a:t>• Roads are repeatedly excavated because agencies do not share project plans.</a:t>
            </a:r>
          </a:p>
          <a:p>
            <a:pPr>
              <a:spcAft>
                <a:spcPts val="900"/>
              </a:spcAft>
              <a:defRPr sz="1600">
                <a:solidFill>
                  <a:srgbClr val="232D37"/>
                </a:solidFill>
                <a:latin typeface="Aptos"/>
              </a:defRPr>
            </a:pPr>
            <a:r>
              <a:t>• Contractor closure photographs may not reliably prove that work was completed.</a:t>
            </a:r>
          </a:p>
          <a:p>
            <a:pPr>
              <a:spcAft>
                <a:spcPts val="900"/>
              </a:spcAft>
              <a:defRPr sz="1600">
                <a:solidFill>
                  <a:srgbClr val="232D37"/>
                </a:solidFill>
                <a:latin typeface="Aptos"/>
              </a:defRPr>
            </a:pPr>
            <a:r>
              <a:t>• No single view connects the issue, asset, owner, repair, and verification.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600200"/>
            <a:ext cx="3520440" cy="3886200"/>
          </a:xfrm>
          <a:prstGeom prst="roundRect">
            <a:avLst/>
          </a:prstGeom>
          <a:solidFill>
            <a:srgbClr val="FFF4E8"/>
          </a:solidFill>
          <a:ln>
            <a:solidFill>
              <a:srgbClr val="EB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01000" y="1874519"/>
            <a:ext cx="3063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B7E22"/>
                </a:solidFill>
                <a:latin typeface="Aptos"/>
              </a:defRPr>
            </a:pPr>
            <a:r>
              <a:t>LAXMI NAGAR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0" y="242316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0233E"/>
                </a:solidFill>
                <a:latin typeface="Aptos"/>
              </a:defRPr>
            </a:pPr>
            <a:r>
              <a:t>1 physical pothole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306324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32D37"/>
                </a:solidFill>
                <a:latin typeface="Aptos"/>
              </a:defRPr>
            </a:pPr>
            <a:r>
              <a:t>App + helpline</a:t>
            </a:r>
            <a:br/>
            <a:r>
              <a:t>+ WhatsApp + letter</a:t>
            </a:r>
            <a:br/>
            <a:r>
              <a:t>+ social media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41605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CD3737"/>
                </a:solidFill>
                <a:latin typeface="Aptos"/>
              </a:defRPr>
            </a:pPr>
            <a:r>
              <a:t>↓</a:t>
            </a:r>
            <a:br/>
            <a:r>
              <a:t>5 separate complaints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510528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F6973"/>
                </a:solidFill>
                <a:latin typeface="Aptos"/>
              </a:defRPr>
            </a:pPr>
            <a:r>
              <a:t>Nagpur InfraSetu | Hackathon Presentation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7395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F6973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45135"/>
            <a:ext cx="12191695" cy="6858000"/>
          </a:xfrm>
          <a:prstGeom prst="rect">
            <a:avLst/>
          </a:prstGeom>
          <a:solidFill>
            <a:srgbClr val="F2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94360" y="941832"/>
            <a:ext cx="1051560" cy="73152"/>
          </a:xfrm>
          <a:prstGeom prst="rect">
            <a:avLst/>
          </a:prstGeom>
          <a:solidFill>
            <a:srgbClr val="EB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0789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F6973"/>
                </a:solidFill>
                <a:latin typeface="Aptos"/>
              </a:defRPr>
            </a:pPr>
            <a:r>
              <a:t>We do not claim that existing systems are useless. They solve individual parts, but the complete workflow remains disconnected.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6491418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0233E"/>
                </a:solidFill>
                <a:latin typeface="Aptos"/>
              </a:defRPr>
            </a:pPr>
            <a:r>
              <a:rPr dirty="0"/>
              <a:t>The gap is integration—not the total absence of technology.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F6973"/>
                </a:solidFill>
                <a:latin typeface="Aptos"/>
              </a:defRPr>
            </a:pPr>
            <a:r>
              <a:t>Nagpur InfraSetu | Hackathon Presentation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92840" y="647395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F6973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256189"/>
            <a:ext cx="2148840" cy="822960"/>
          </a:xfrm>
          <a:prstGeom prst="round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rPr lang="en-IN"/>
              <a:t>Report</a:t>
            </a:r>
            <a:endParaRPr lang="en-IN" dirty="0"/>
          </a:p>
        </p:txBody>
      </p:sp>
      <p:sp>
        <p:nvSpPr>
          <p:cNvPr id="22" name="Rounded Rectangle 21"/>
          <p:cNvSpPr/>
          <p:nvPr/>
        </p:nvSpPr>
        <p:spPr>
          <a:xfrm>
            <a:off x="3337560" y="4241992"/>
            <a:ext cx="2148840" cy="822960"/>
          </a:xfrm>
          <a:prstGeom prst="roundRect">
            <a:avLst/>
          </a:prstGeom>
          <a:solidFill>
            <a:srgbClr val="1D6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rPr lang="en-IN"/>
              <a:t>Identify physical issue</a:t>
            </a:r>
            <a:endParaRPr lang="en-IN" dirty="0"/>
          </a:p>
        </p:txBody>
      </p:sp>
      <p:sp>
        <p:nvSpPr>
          <p:cNvPr id="23" name="Rounded Rectangle 22"/>
          <p:cNvSpPr/>
          <p:nvPr/>
        </p:nvSpPr>
        <p:spPr>
          <a:xfrm>
            <a:off x="6217615" y="4229304"/>
            <a:ext cx="2148840" cy="822960"/>
          </a:xfrm>
          <a:prstGeom prst="roundRect">
            <a:avLst/>
          </a:prstGeom>
          <a:solidFill>
            <a:srgbClr val="EB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rPr lang="en-IN"/>
              <a:t>Prioritize risk</a:t>
            </a:r>
            <a:endParaRPr lang="en-IN" dirty="0"/>
          </a:p>
        </p:txBody>
      </p:sp>
      <p:sp>
        <p:nvSpPr>
          <p:cNvPr id="24" name="Rounded Rectangle 23"/>
          <p:cNvSpPr/>
          <p:nvPr/>
        </p:nvSpPr>
        <p:spPr>
          <a:xfrm>
            <a:off x="8967261" y="4256189"/>
            <a:ext cx="2148840" cy="822960"/>
          </a:xfrm>
          <a:prstGeom prst="roundRect">
            <a:avLst/>
          </a:prstGeom>
          <a:solidFill>
            <a:srgbClr val="1D6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rPr lang="en-IN"/>
              <a:t>Assign owner</a:t>
            </a:r>
            <a:endParaRPr lang="en-IN" dirty="0"/>
          </a:p>
        </p:txBody>
      </p:sp>
      <p:sp>
        <p:nvSpPr>
          <p:cNvPr id="25" name="Rounded Rectangle 24"/>
          <p:cNvSpPr/>
          <p:nvPr/>
        </p:nvSpPr>
        <p:spPr>
          <a:xfrm>
            <a:off x="594360" y="5366778"/>
            <a:ext cx="2148840" cy="822960"/>
          </a:xfrm>
          <a:prstGeom prst="round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rPr lang="en-IN"/>
              <a:t>Coordinate work</a:t>
            </a:r>
            <a:endParaRPr lang="en-IN" dirty="0"/>
          </a:p>
        </p:txBody>
      </p:sp>
      <p:sp>
        <p:nvSpPr>
          <p:cNvPr id="26" name="Rounded Rectangle 25"/>
          <p:cNvSpPr/>
          <p:nvPr/>
        </p:nvSpPr>
        <p:spPr>
          <a:xfrm>
            <a:off x="3421685" y="5330265"/>
            <a:ext cx="2148840" cy="822960"/>
          </a:xfrm>
          <a:prstGeom prst="roundRect">
            <a:avLst/>
          </a:prstGeom>
          <a:solidFill>
            <a:srgbClr val="279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rPr lang="en-IN"/>
              <a:t>Verify repair</a:t>
            </a:r>
            <a:endParaRPr lang="en-IN" dirty="0"/>
          </a:p>
        </p:txBody>
      </p:sp>
      <p:sp>
        <p:nvSpPr>
          <p:cNvPr id="27" name="Rounded Rectangle 26"/>
          <p:cNvSpPr/>
          <p:nvPr/>
        </p:nvSpPr>
        <p:spPr>
          <a:xfrm>
            <a:off x="6217615" y="5378314"/>
            <a:ext cx="2148840" cy="822960"/>
          </a:xfrm>
          <a:prstGeom prst="roundRect">
            <a:avLst/>
          </a:prstGeom>
          <a:solidFill>
            <a:srgbClr val="CD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rPr lang="en-IN"/>
              <a:t>Prevent recurrence</a:t>
            </a:r>
            <a:endParaRPr lang="en-IN" dirty="0"/>
          </a:p>
        </p:txBody>
      </p:sp>
      <p:cxnSp>
        <p:nvCxnSpPr>
          <p:cNvPr id="29" name="Straight Arrow Connector 28"/>
          <p:cNvCxnSpPr/>
          <p:nvPr/>
        </p:nvCxnSpPr>
        <p:spPr>
          <a:xfrm flipV="1">
            <a:off x="2735351" y="4670170"/>
            <a:ext cx="594360" cy="112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V="1">
            <a:off x="5486400" y="4668745"/>
            <a:ext cx="746913" cy="126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23" idx="3"/>
          </p:cNvCxnSpPr>
          <p:nvPr/>
        </p:nvCxnSpPr>
        <p:spPr>
          <a:xfrm>
            <a:off x="8366455" y="4640784"/>
            <a:ext cx="60080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V="1">
            <a:off x="5554980" y="5754947"/>
            <a:ext cx="594360" cy="112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flipV="1">
            <a:off x="2688407" y="5789794"/>
            <a:ext cx="594360" cy="112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66010" y="258001"/>
            <a:ext cx="8543499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 smtClean="0"/>
              <a:t>2. Proposed </a:t>
            </a:r>
            <a:r>
              <a:rPr lang="en-IN" sz="3200" b="1" dirty="0"/>
              <a:t>Solution</a:t>
            </a:r>
          </a:p>
          <a:p>
            <a:endParaRPr lang="en-IN" sz="1100" b="1" dirty="0"/>
          </a:p>
        </p:txBody>
      </p:sp>
      <p:sp>
        <p:nvSpPr>
          <p:cNvPr id="40" name="TextBox 39"/>
          <p:cNvSpPr txBox="1"/>
          <p:nvPr/>
        </p:nvSpPr>
        <p:spPr>
          <a:xfrm>
            <a:off x="666010" y="1485633"/>
            <a:ext cx="627363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1. </a:t>
            </a:r>
            <a:r>
              <a:rPr lang="en-US" b="1" dirty="0" smtClean="0"/>
              <a:t>Smart </a:t>
            </a:r>
            <a:r>
              <a:rPr lang="en-US" b="1" dirty="0"/>
              <a:t>Reporting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Citizens report potholes, streetlights, road damage and other issues using photo + GPS through app, WhatsApp, helpline, etc.</a:t>
            </a:r>
          </a:p>
          <a:p>
            <a:r>
              <a:rPr lang="en-US" b="1" dirty="0"/>
              <a:t>2. </a:t>
            </a:r>
            <a:r>
              <a:rPr lang="en-US" b="1" dirty="0" smtClean="0"/>
              <a:t> AI </a:t>
            </a:r>
            <a:r>
              <a:rPr lang="en-US" b="1" dirty="0"/>
              <a:t>Duplicate Detection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Multiple complaints about the same location are merged into </a:t>
            </a:r>
            <a:r>
              <a:rPr lang="en-US" b="1" dirty="0"/>
              <a:t>one master issue</a:t>
            </a:r>
            <a:r>
              <a:rPr lang="en-US" dirty="0"/>
              <a:t> with a unique Infrastructure ID.</a:t>
            </a:r>
          </a:p>
          <a:p>
            <a:r>
              <a:rPr lang="en-US" b="1" dirty="0"/>
              <a:t>3. </a:t>
            </a:r>
            <a:r>
              <a:rPr lang="en-US" b="1" dirty="0" smtClean="0"/>
              <a:t> </a:t>
            </a:r>
            <a:r>
              <a:rPr lang="en-US" b="1" dirty="0"/>
              <a:t>Risk-Based Prioritization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AI evaluates </a:t>
            </a:r>
            <a:r>
              <a:rPr lang="en-US" b="1" dirty="0"/>
              <a:t>severity, location, safety risk, traffic and complaint age</a:t>
            </a:r>
            <a:r>
              <a:rPr lang="en-US" dirty="0"/>
              <a:t> to prioritize critical problems.</a:t>
            </a:r>
          </a:p>
          <a:p>
            <a:endParaRPr lang="en-IN" dirty="0"/>
          </a:p>
        </p:txBody>
      </p:sp>
      <p:sp>
        <p:nvSpPr>
          <p:cNvPr id="41" name="Rounded Rectangle 40"/>
          <p:cNvSpPr/>
          <p:nvPr/>
        </p:nvSpPr>
        <p:spPr>
          <a:xfrm>
            <a:off x="453988" y="1325766"/>
            <a:ext cx="6485654" cy="2816209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Rounded Rectangle 41"/>
          <p:cNvSpPr/>
          <p:nvPr/>
        </p:nvSpPr>
        <p:spPr>
          <a:xfrm>
            <a:off x="7011292" y="1313734"/>
            <a:ext cx="5104746" cy="2850778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TextBox 42"/>
          <p:cNvSpPr txBox="1"/>
          <p:nvPr/>
        </p:nvSpPr>
        <p:spPr>
          <a:xfrm>
            <a:off x="7214971" y="1274259"/>
            <a:ext cx="493904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4. </a:t>
            </a:r>
            <a:r>
              <a:rPr lang="en-US" b="1" dirty="0" smtClean="0"/>
              <a:t>Automatic </a:t>
            </a:r>
            <a:r>
              <a:rPr lang="en-US" b="1" dirty="0"/>
              <a:t>Department Assignment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The system identifies the responsible department and sends the issue directly to them.</a:t>
            </a:r>
          </a:p>
          <a:p>
            <a:r>
              <a:rPr lang="en-US" b="1" dirty="0"/>
              <a:t>5. </a:t>
            </a:r>
            <a:r>
              <a:rPr lang="en-US" b="1" dirty="0" smtClean="0"/>
              <a:t>Construction </a:t>
            </a:r>
            <a:r>
              <a:rPr lang="en-US" b="1" dirty="0"/>
              <a:t>Coordination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Departments can see planned road, water and electricity works on a shared map to prevent repeated digging.</a:t>
            </a:r>
          </a:p>
          <a:p>
            <a:r>
              <a:rPr lang="en-US" b="1" dirty="0"/>
              <a:t>6. </a:t>
            </a:r>
            <a:r>
              <a:rPr lang="en-US" b="1" dirty="0" smtClean="0"/>
              <a:t> </a:t>
            </a:r>
            <a:r>
              <a:rPr lang="en-US" b="1" dirty="0"/>
              <a:t>Repair Verification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Contractors submit </a:t>
            </a:r>
            <a:r>
              <a:rPr lang="en-US" b="1" dirty="0"/>
              <a:t>before–during–after photos + GPS evidence</a:t>
            </a:r>
            <a:r>
              <a:rPr lang="en-US" dirty="0"/>
              <a:t>, followed by engineer verification.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33E"/>
                </a:solidFill>
                <a:latin typeface="Aptos"/>
              </a:defRPr>
            </a:pPr>
            <a:r>
              <a:t>3. Key Innovation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41832"/>
            <a:ext cx="1051560" cy="73152"/>
          </a:xfrm>
          <a:prstGeom prst="rect">
            <a:avLst/>
          </a:prstGeom>
          <a:solidFill>
            <a:srgbClr val="EB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0789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F6973"/>
                </a:solidFill>
                <a:latin typeface="Aptos"/>
              </a:defRPr>
            </a:pPr>
            <a:r>
              <a:t>Why this is more than a complaint-reporting application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325880"/>
            <a:ext cx="4480560" cy="475488"/>
          </a:xfrm>
          <a:prstGeom prst="rect">
            <a:avLst/>
          </a:prstGeom>
          <a:solidFill>
            <a:srgbClr val="E5F0F7"/>
          </a:solidFill>
          <a:ln>
            <a:solidFill>
              <a:srgbClr val="BE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39" y="1435607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233E"/>
                </a:solidFill>
                <a:latin typeface="Aptos"/>
              </a:defRPr>
            </a:pPr>
            <a:r>
              <a:t>Existing approach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0" y="1325880"/>
            <a:ext cx="5394960" cy="475488"/>
          </a:xfrm>
          <a:prstGeom prst="rect">
            <a:avLst/>
          </a:prstGeom>
          <a:solidFill>
            <a:srgbClr val="E5F0F7"/>
          </a:solidFill>
          <a:ln>
            <a:solidFill>
              <a:srgbClr val="BE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806440" y="1435607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196"/>
                </a:solidFill>
                <a:latin typeface="Aptos"/>
              </a:defRPr>
            </a:pPr>
            <a:r>
              <a:t>Nagpur InfraSetu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1947672"/>
            <a:ext cx="44805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BE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39" y="2057400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0233E"/>
                </a:solidFill>
                <a:latin typeface="Aptos"/>
              </a:defRPr>
            </a:pPr>
            <a:r>
              <a:t>Complaint → complaint ID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0" y="1947672"/>
            <a:ext cx="53949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BE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806440" y="205740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009196"/>
                </a:solidFill>
                <a:latin typeface="Aptos"/>
              </a:defRPr>
            </a:pPr>
            <a:r>
              <a:t>Complaint → physical issue → master issue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2569464"/>
            <a:ext cx="44805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BE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39" y="2679192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0233E"/>
                </a:solidFill>
                <a:latin typeface="Aptos"/>
              </a:defRPr>
            </a:pPr>
            <a:r>
              <a:t>More complaints = priority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0" y="2569464"/>
            <a:ext cx="53949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BE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806440" y="2679192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009196"/>
                </a:solidFill>
                <a:latin typeface="Aptos"/>
              </a:defRPr>
            </a:pPr>
            <a:r>
              <a:t>Risk score based on safety and exposure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3191256"/>
            <a:ext cx="44805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BE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39" y="3300984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0233E"/>
                </a:solidFill>
                <a:latin typeface="Aptos"/>
              </a:defRPr>
            </a:pPr>
            <a:r>
              <a:t>Citizen selects department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0" y="3191256"/>
            <a:ext cx="53949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BE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806440" y="3300984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009196"/>
                </a:solidFill>
                <a:latin typeface="Aptos"/>
              </a:defRPr>
            </a:pPr>
            <a:r>
              <a:t>GPS + asset database → correct owner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" y="3813048"/>
            <a:ext cx="44805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BE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39" y="3922776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0233E"/>
                </a:solidFill>
                <a:latin typeface="Aptos"/>
              </a:defRPr>
            </a:pPr>
            <a:r>
              <a:t>Separate agency projects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0" y="3813048"/>
            <a:ext cx="53949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BE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806440" y="3922776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009196"/>
                </a:solidFill>
                <a:latin typeface="Aptos"/>
              </a:defRPr>
            </a:pPr>
            <a:r>
              <a:t>Shared map + calendar → conflict alerts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8680" y="4434840"/>
            <a:ext cx="44805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BE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05839" y="4544568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0233E"/>
                </a:solidFill>
                <a:latin typeface="Aptos"/>
              </a:defRPr>
            </a:pPr>
            <a:r>
              <a:t>Contractor completion claim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0" y="4434840"/>
            <a:ext cx="53949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BE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806440" y="4544568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009196"/>
                </a:solidFill>
                <a:latin typeface="Aptos"/>
              </a:defRPr>
            </a:pPr>
            <a:r>
              <a:t>Geo-tagged evidence + engineer verification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8680" y="5056632"/>
            <a:ext cx="44805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BE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05839" y="5166360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0233E"/>
                </a:solidFill>
                <a:latin typeface="Aptos"/>
              </a:defRPr>
            </a:pPr>
            <a:r>
              <a:t>Closed case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0" y="5056632"/>
            <a:ext cx="53949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BE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806440" y="516636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009196"/>
                </a:solidFill>
                <a:latin typeface="Aptos"/>
              </a:defRPr>
            </a:pPr>
            <a:r>
              <a:t>Citizen feedback → reopen if unresolved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510528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F6973"/>
                </a:solidFill>
                <a:latin typeface="Aptos"/>
              </a:defRPr>
            </a:pPr>
            <a:r>
              <a:t>Nagpur InfraSetu | Hackathon Presentation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92840" y="647395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F6973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33E"/>
                </a:solidFill>
                <a:latin typeface="Aptos"/>
              </a:defRPr>
            </a:pPr>
            <a:r>
              <a:t>4. Working 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41832"/>
            <a:ext cx="1051560" cy="73152"/>
          </a:xfrm>
          <a:prstGeom prst="rect">
            <a:avLst/>
          </a:prstGeom>
          <a:solidFill>
            <a:srgbClr val="EB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0789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F6973"/>
                </a:solidFill>
                <a:latin typeface="Aptos"/>
              </a:defRPr>
            </a:pPr>
            <a:r>
              <a:t>From detection to verified resolution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24231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009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527048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9196"/>
                </a:solidFill>
                <a:latin typeface="Aptos"/>
              </a:defRPr>
            </a:pPr>
            <a:r>
              <a:t>1.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901952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32D37"/>
                </a:solidFill>
                <a:latin typeface="Aptos"/>
              </a:defRPr>
            </a:pPr>
            <a:r>
              <a:t>Photo, GPS, text, video, or field inspection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1371600"/>
            <a:ext cx="24231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1D6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0" y="1527048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D6FB0"/>
                </a:solidFill>
                <a:latin typeface="Aptos"/>
              </a:defRPr>
            </a:pPr>
            <a:r>
              <a:t>2. AI merge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5032" y="1901952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32D37"/>
                </a:solidFill>
                <a:latin typeface="Aptos"/>
              </a:defRPr>
            </a:pPr>
            <a:r>
              <a:t>Compare GPS, road, image, text, category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371600"/>
            <a:ext cx="24231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B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1527048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B7E22"/>
                </a:solidFill>
                <a:latin typeface="Aptos"/>
              </a:defRPr>
            </a:pPr>
            <a:r>
              <a:t>3. Risk 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1901952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32D37"/>
                </a:solidFill>
                <a:latin typeface="Aptos"/>
              </a:defRPr>
            </a:pPr>
            <a:r>
              <a:t>Severity, traffic, school, age, recurrence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89720" y="1371600"/>
            <a:ext cx="24231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1D6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26880" y="1527048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D6FB0"/>
                </a:solidFill>
                <a:latin typeface="Aptos"/>
              </a:defRPr>
            </a:pPr>
            <a:r>
              <a:t>4. Route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54312" y="1901952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32D37"/>
                </a:solidFill>
                <a:latin typeface="Aptos"/>
              </a:defRPr>
            </a:pPr>
            <a:r>
              <a:t>Match asset and responsible department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337560"/>
            <a:ext cx="24231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009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3493008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9196"/>
                </a:solidFill>
                <a:latin typeface="Aptos"/>
              </a:defRPr>
            </a:pPr>
            <a:r>
              <a:t>5. Coordinate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" y="3867911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32D37"/>
                </a:solidFill>
                <a:latin typeface="Aptos"/>
              </a:defRPr>
            </a:pPr>
            <a:r>
              <a:t>Check resurfacing and utility work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20440" y="3337560"/>
            <a:ext cx="24231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B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57600" y="3493008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B7E22"/>
                </a:solidFill>
                <a:latin typeface="Aptos"/>
              </a:defRPr>
            </a:pPr>
            <a:r>
              <a:t>6. Work order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85032" y="3867911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32D37"/>
                </a:solidFill>
                <a:latin typeface="Aptos"/>
              </a:defRPr>
            </a:pPr>
            <a:r>
              <a:t>Assign contractor and deadline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3337560"/>
            <a:ext cx="24231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279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92240" y="3493008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7965A"/>
                </a:solidFill>
                <a:latin typeface="Aptos"/>
              </a:defRPr>
            </a:pPr>
            <a:r>
              <a:t>7. Verify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9672" y="3867911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32D37"/>
                </a:solidFill>
                <a:latin typeface="Aptos"/>
              </a:defRPr>
            </a:pPr>
            <a:r>
              <a:t>Before/after proof and engineer approval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89720" y="3337560"/>
            <a:ext cx="24231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D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326880" y="3493008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CD3737"/>
                </a:solidFill>
                <a:latin typeface="Aptos"/>
              </a:defRPr>
            </a:pPr>
            <a:r>
              <a:t>8. Feedback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54312" y="3867911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32D37"/>
                </a:solidFill>
                <a:latin typeface="Aptos"/>
              </a:defRPr>
            </a:pPr>
            <a:r>
              <a:t>Citizen confirms or reopens issue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10528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F6973"/>
                </a:solidFill>
                <a:latin typeface="Aptos"/>
              </a:defRPr>
            </a:pPr>
            <a:r>
              <a:t>Nagpur InfraSetu | Hackathon Presentation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47395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F6973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33E"/>
                </a:solidFill>
                <a:latin typeface="Aptos"/>
              </a:defRPr>
            </a:pPr>
            <a:r>
              <a:t>7. Technical and Operational Feasibility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41832"/>
            <a:ext cx="1051560" cy="73152"/>
          </a:xfrm>
          <a:prstGeom prst="rect">
            <a:avLst/>
          </a:prstGeom>
          <a:solidFill>
            <a:srgbClr val="EB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33375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1D6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1D6FB0"/>
                </a:solidFill>
                <a:latin typeface="Aptos"/>
              </a:defRPr>
            </a:pPr>
            <a:r>
              <a:t>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27889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7"/>
                </a:solidFill>
                <a:latin typeface="Aptos"/>
              </a:defRPr>
            </a:pPr>
            <a:r>
              <a:t>• Mobile/web reporting</a:t>
            </a:r>
            <a:br/>
            <a:r>
              <a:t>• GIS and PostGIS database</a:t>
            </a:r>
            <a:br/>
            <a:r>
              <a:t>• AI image and text similarity</a:t>
            </a:r>
            <a:br/>
            <a:r>
              <a:t>• Risk-scoring engine</a:t>
            </a:r>
            <a:br/>
            <a:r>
              <a:t>• API integration and dashboards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508760"/>
            <a:ext cx="33375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009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63440" y="1783080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009196"/>
                </a:solidFill>
                <a:latin typeface="Aptos"/>
              </a:defRPr>
            </a:pPr>
            <a:r>
              <a:t>Deployment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331720"/>
            <a:ext cx="27889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7"/>
                </a:solidFill>
                <a:latin typeface="Aptos"/>
              </a:defRPr>
            </a:pPr>
            <a:r>
              <a:t>• Pilot selected wards and corridors</a:t>
            </a:r>
            <a:br/>
            <a:r>
              <a:t>• Start with potholes and streetlights</a:t>
            </a:r>
            <a:br/>
            <a:r>
              <a:t>• Engineers review AI recommendations</a:t>
            </a:r>
            <a:br/>
            <a:r>
              <a:t>• Use existing departmental workflows</a:t>
            </a:r>
            <a:br/>
            <a:r>
              <a:t>• Expand after validation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508760"/>
            <a:ext cx="33375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B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58200" y="1783080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EB7E22"/>
                </a:solidFill>
                <a:latin typeface="Aptos"/>
              </a:defRPr>
            </a:pPr>
            <a:r>
              <a:t>Prototype stack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2331720"/>
            <a:ext cx="27889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7"/>
                </a:solidFill>
                <a:latin typeface="Aptos"/>
              </a:defRPr>
            </a:pPr>
            <a:r>
              <a:t>• Flutter or React</a:t>
            </a:r>
            <a:br/>
            <a:r>
              <a:t>• FastAPI or Node.js</a:t>
            </a:r>
            <a:br/>
            <a:r>
              <a:t>• Python AI services</a:t>
            </a:r>
            <a:br/>
            <a:r>
              <a:t>• PostgreSQL/PostGIS</a:t>
            </a:r>
            <a:br/>
            <a:r>
              <a:t>• Cloud or government hosting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510528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F6973"/>
                </a:solidFill>
                <a:latin typeface="Aptos"/>
              </a:defRPr>
            </a:pPr>
            <a:r>
              <a:t>Nagpur InfraSetu | Hackathon Presentation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647395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F6973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33E"/>
                </a:solidFill>
                <a:latin typeface="Aptos"/>
              </a:defRPr>
            </a:pPr>
            <a:r>
              <a:t>8. Viability and Impacts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41832"/>
            <a:ext cx="1051560" cy="73152"/>
          </a:xfrm>
          <a:prstGeom prst="rect">
            <a:avLst/>
          </a:prstGeom>
          <a:solidFill>
            <a:srgbClr val="EB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0789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F6973"/>
                </a:solidFill>
                <a:latin typeface="Aptos"/>
              </a:defRPr>
            </a:pPr>
            <a:r>
              <a:t>Value for authorities, engineers, contractors, and citizens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2461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1D6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2880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D6FB0"/>
                </a:solidFill>
                <a:latin typeface="Aptos"/>
              </a:defRPr>
            </a:pPr>
            <a:r>
              <a:t>Municipal 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39112"/>
            <a:ext cx="2788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32D37"/>
                </a:solidFill>
                <a:latin typeface="Aptos"/>
              </a:defRPr>
            </a:pPr>
            <a:r>
              <a:t>Less duplication, faster routing, coordinated projects, better planning.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417320"/>
            <a:ext cx="32461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CD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63440" y="1600200"/>
            <a:ext cx="2880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D3737"/>
                </a:solidFill>
                <a:latin typeface="Aptos"/>
              </a:defRPr>
            </a:pPr>
            <a:r>
              <a:t>Safety impact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039112"/>
            <a:ext cx="2788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32D37"/>
                </a:solidFill>
                <a:latin typeface="Aptos"/>
              </a:defRPr>
            </a:pPr>
            <a:r>
              <a:t>High-risk defects near schools, hospitals, bus stops, and busy roads receive priority.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417320"/>
            <a:ext cx="32461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279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58200" y="1600200"/>
            <a:ext cx="2880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7965A"/>
                </a:solidFill>
                <a:latin typeface="Aptos"/>
              </a:defRPr>
            </a:pPr>
            <a:r>
              <a:t>Accountability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039112"/>
            <a:ext cx="2788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32D37"/>
                </a:solidFill>
                <a:latin typeface="Aptos"/>
              </a:defRPr>
            </a:pPr>
            <a:r>
              <a:t>Geo-tagged evidence, engineer approval, and citizen reopening improve closure.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337560"/>
            <a:ext cx="32461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B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3520440"/>
            <a:ext cx="2880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B7E22"/>
                </a:solidFill>
                <a:latin typeface="Aptos"/>
              </a:defRPr>
            </a:pPr>
            <a:r>
              <a:t>Cost efficiency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959352"/>
            <a:ext cx="2788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32D37"/>
                </a:solidFill>
                <a:latin typeface="Aptos"/>
              </a:defRPr>
            </a:pPr>
            <a:r>
              <a:t>Reduced repeated excavation, rework, duplicate inspection, and delays.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60" y="3337560"/>
            <a:ext cx="32461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009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63440" y="3520440"/>
            <a:ext cx="2880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9196"/>
                </a:solidFill>
                <a:latin typeface="Aptos"/>
              </a:defRPr>
            </a:pPr>
            <a:r>
              <a:t>Citizen trust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3959352"/>
            <a:ext cx="2788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32D37"/>
                </a:solidFill>
                <a:latin typeface="Aptos"/>
              </a:defRPr>
            </a:pPr>
            <a:r>
              <a:t>Transparent status, responsible owner, repair evidence, notifications.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75320" y="3337560"/>
            <a:ext cx="32461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102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58200" y="3520440"/>
            <a:ext cx="2880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233E"/>
                </a:solidFill>
                <a:latin typeface="Aptos"/>
              </a:defRPr>
            </a:pPr>
            <a:r>
              <a:t>Long-term impact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3959352"/>
            <a:ext cx="2788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32D37"/>
                </a:solidFill>
                <a:latin typeface="Aptos"/>
              </a:defRPr>
            </a:pPr>
            <a:r>
              <a:t>Asset history and trends support preventive maintenance.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10528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F6973"/>
                </a:solidFill>
                <a:latin typeface="Aptos"/>
              </a:defRPr>
            </a:pPr>
            <a:r>
              <a:t>Nagpur InfraSetu | Hackathon Presentation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840" y="647395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F6973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33E"/>
                </a:solidFill>
                <a:latin typeface="Aptos"/>
              </a:defRPr>
            </a:pPr>
            <a:r>
              <a:t>9. End-to-End Example: Laxmi Nagar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41832"/>
            <a:ext cx="1051560" cy="73152"/>
          </a:xfrm>
          <a:prstGeom prst="rect">
            <a:avLst/>
          </a:prstGeom>
          <a:solidFill>
            <a:srgbClr val="EB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14400" y="1325880"/>
            <a:ext cx="10241280" cy="521207"/>
          </a:xfrm>
          <a:prstGeom prst="roundRect">
            <a:avLst/>
          </a:prstGeom>
          <a:solidFill>
            <a:srgbClr val="FFFFFF"/>
          </a:solidFill>
          <a:ln>
            <a:solidFill>
              <a:srgbClr val="1D6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1453895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D6FB0"/>
                </a:solidFill>
                <a:latin typeface="Aptos"/>
              </a:defRPr>
            </a:pPr>
            <a:r>
              <a:t>Five reports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453895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32D37"/>
                </a:solidFill>
                <a:latin typeface="Aptos"/>
              </a:defRPr>
            </a:pPr>
            <a:r>
              <a:t>App, helpline, WhatsApp, letter, social media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011680"/>
            <a:ext cx="10241280" cy="521207"/>
          </a:xfrm>
          <a:prstGeom prst="roundRect">
            <a:avLst/>
          </a:prstGeom>
          <a:solidFill>
            <a:srgbClr val="FFFFFF"/>
          </a:solidFill>
          <a:ln>
            <a:solidFill>
              <a:srgbClr val="009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2139696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9196"/>
                </a:solidFill>
                <a:latin typeface="Aptos"/>
              </a:defRPr>
            </a:pPr>
            <a:r>
              <a:t>AI duplicate 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139696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32D37"/>
                </a:solidFill>
                <a:latin typeface="Aptos"/>
              </a:defRPr>
            </a:pPr>
            <a:r>
              <a:t>GPS + road + image + text → one physical pothole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697480"/>
            <a:ext cx="10241280" cy="521207"/>
          </a:xfrm>
          <a:prstGeom prst="roundRect">
            <a:avLst/>
          </a:prstGeom>
          <a:solidFill>
            <a:srgbClr val="FFFFFF"/>
          </a:solidFill>
          <a:ln>
            <a:solidFill>
              <a:srgbClr val="EB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43000" y="2825496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B7E22"/>
                </a:solidFill>
                <a:latin typeface="Aptos"/>
              </a:defRPr>
            </a:pPr>
            <a:r>
              <a:t>Master issue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825496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32D37"/>
                </a:solidFill>
                <a:latin typeface="Aptos"/>
              </a:defRPr>
            </a:pPr>
            <a:r>
              <a:t>PTH-1024; all original reports preserved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383280"/>
            <a:ext cx="10241280" cy="521207"/>
          </a:xfrm>
          <a:prstGeom prst="roundRect">
            <a:avLst/>
          </a:prstGeom>
          <a:solidFill>
            <a:srgbClr val="FFFFFF"/>
          </a:solidFill>
          <a:ln>
            <a:solidFill>
              <a:srgbClr val="CD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43000" y="3511296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CD3737"/>
                </a:solidFill>
                <a:latin typeface="Aptos"/>
              </a:defRPr>
            </a:pPr>
            <a:r>
              <a:t>Risk priority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3511296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32D37"/>
                </a:solidFill>
                <a:latin typeface="Aptos"/>
              </a:defRPr>
            </a:pPr>
            <a:r>
              <a:t>Depth + traffic + school or bus-stop exposure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069080"/>
            <a:ext cx="10241280" cy="521207"/>
          </a:xfrm>
          <a:prstGeom prst="roundRect">
            <a:avLst/>
          </a:prstGeom>
          <a:solidFill>
            <a:srgbClr val="FFFFFF"/>
          </a:solidFill>
          <a:ln>
            <a:solidFill>
              <a:srgbClr val="1D6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43000" y="4197096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D6FB0"/>
                </a:solidFill>
                <a:latin typeface="Aptos"/>
              </a:defRPr>
            </a:pPr>
            <a:r>
              <a:t>Work order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4197096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32D37"/>
                </a:solidFill>
                <a:latin typeface="Aptos"/>
              </a:defRPr>
            </a:pPr>
            <a:r>
              <a:t>Correct department and contractor assigned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754880"/>
            <a:ext cx="10241280" cy="521207"/>
          </a:xfrm>
          <a:prstGeom prst="roundRect">
            <a:avLst/>
          </a:prstGeom>
          <a:solidFill>
            <a:srgbClr val="FFFFFF"/>
          </a:solidFill>
          <a:ln>
            <a:solidFill>
              <a:srgbClr val="279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43000" y="4882896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7965A"/>
                </a:solidFill>
                <a:latin typeface="Aptos"/>
              </a:defRPr>
            </a:pPr>
            <a:r>
              <a:t>Verified resolution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4882896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32D37"/>
                </a:solidFill>
                <a:latin typeface="Aptos"/>
              </a:defRPr>
            </a:pPr>
            <a:r>
              <a:t>Before/after proof + engineer + citizen feedback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80644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233E"/>
                </a:solidFill>
                <a:latin typeface="Aptos"/>
              </a:defRPr>
            </a:pPr>
            <a:r>
              <a:t>Multiple complaints become one accountable maintenance workflow.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10528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F6973"/>
                </a:solidFill>
                <a:latin typeface="Aptos"/>
              </a:defRPr>
            </a:pPr>
            <a:r>
              <a:t>Nagpur InfraSetu | Hackathon Presentation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840" y="647395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F6973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602</Words>
  <Application>Microsoft Office PowerPoint</Application>
  <PresentationFormat>Widescreen</PresentationFormat>
  <Paragraphs>118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admin</cp:lastModifiedBy>
  <cp:revision>8</cp:revision>
  <dcterms:created xsi:type="dcterms:W3CDTF">2013-01-27T09:14:16Z</dcterms:created>
  <dcterms:modified xsi:type="dcterms:W3CDTF">2026-09-22T09:56:46Z</dcterms:modified>
  <cp:category/>
</cp:coreProperties>
</file>